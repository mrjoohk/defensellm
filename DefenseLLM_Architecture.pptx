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280160"/>
            <a:ext cx="64008" cy="256032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344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DefenseLLM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85800" y="23317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방산 특화 sLLM 에이전트 시스템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Defense-Domain Small Language Model Agent · RAG · Security · Audit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 · BM25 + Dense Hybrid · RBAC/ABAC · Append-Only Audit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749040"/>
            <a:ext cx="1920240" cy="914400"/>
          </a:xfrm>
          <a:prstGeom prst="rect">
            <a:avLst/>
          </a:prstGeom>
          <a:solidFill>
            <a:srgbClr val="1B2E4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7764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02920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Core Modules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51760" y="3749040"/>
            <a:ext cx="1920240" cy="914400"/>
          </a:xfrm>
          <a:prstGeom prst="rect">
            <a:avLst/>
          </a:prstGeom>
          <a:solidFill>
            <a:srgbClr val="1B2E4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51760" y="37764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51760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Unit Functions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3749040"/>
            <a:ext cx="1920240" cy="914400"/>
          </a:xfrm>
          <a:prstGeom prst="rect">
            <a:avLst/>
          </a:prstGeom>
          <a:solidFill>
            <a:srgbClr val="1B2E4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37764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800600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Integration Scenarios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49440" y="3749040"/>
            <a:ext cx="1920240" cy="914400"/>
          </a:xfrm>
          <a:prstGeom prst="rect">
            <a:avLst/>
          </a:prstGeom>
          <a:solidFill>
            <a:srgbClr val="1B2E4B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37764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208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49440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Test Cases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6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 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73152" cy="10789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개요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984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배경 · 핵심 가치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234440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34440"/>
            <a:ext cx="73152" cy="10789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325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16733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아키텍처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1984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계층 구조 · 모듈 관계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49631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496312"/>
            <a:ext cx="73152" cy="10789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877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29352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 상세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3246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Agent · Security · Audit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496312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496312"/>
            <a:ext cx="73152" cy="10789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5877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37760" y="29352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흐름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37760" y="3246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쿼리 처리 End-to-End 시나리오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758184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758184"/>
            <a:ext cx="73152" cy="10789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496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" y="41970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&amp; 평가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4507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단위/통합 테스트 · 커버리지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758184"/>
            <a:ext cx="41605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758184"/>
            <a:ext cx="73152" cy="107899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8496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937760" y="41970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방법 &amp; 확장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937760" y="4507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· 실행 · 모델 업그레이드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시스템 개요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6634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7043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무엇인가?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4297680" cy="3657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27632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DefenseLLM은 방산 도메인에 특화된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sLLM(소형 언어 모델) 기반 에이전트 시스템입니다.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Qwen2.5 (1.5B→7B+ 확장 가능)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완전 오프라인 (네트워크 없이 동작)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규칙 기반 플래너 + ReAct 에이전트 루프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하이브리드 검색 (BM25 + Dense Vector)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RBAC/ABAC 이중 보안 체계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불변 Append-Only 감사 로그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어댑터 패턴으로 LLM 교체 가능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212080" y="1051560"/>
            <a:ext cx="3611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12080" y="1051560"/>
            <a:ext cx="64008" cy="80467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9240" y="1115568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보안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144475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RBAC/ABAC + 출력 마스킹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비밀/기밀 레벨 접근 제어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12080" y="1956816"/>
            <a:ext cx="3611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12080" y="1956816"/>
            <a:ext cx="64008" cy="80467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0" y="2020824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지식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23500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청킹·색인·인용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무결성 검증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12080" y="2862072"/>
            <a:ext cx="3611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12080" y="2862072"/>
            <a:ext cx="64008" cy="80467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0" y="292608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에이전트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325526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루프 + 툴 호출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기반 쿼리 분류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12080" y="3767328"/>
            <a:ext cx="36118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12080" y="3767328"/>
            <a:ext cx="64008" cy="80467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3831336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감사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41605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불변 SQLite 감사 로그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요청-응답 전 구간 추적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전체 아키텍처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43891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Query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1536192"/>
            <a:ext cx="8595360" cy="438912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8191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UF-030  Rule-Based Classifier  →  QueryType 분류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2066544"/>
            <a:ext cx="8595360" cy="438912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12264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UF-031  Executor (ReAct Agent Loop)  ·  UF-032  Tool Schema Validation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26280" y="2505456"/>
            <a:ext cx="0" cy="164592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743200"/>
            <a:ext cx="4114800" cy="804672"/>
          </a:xfrm>
          <a:prstGeom prst="rect">
            <a:avLst/>
          </a:prstGeom>
          <a:solidFill>
            <a:srgbClr val="0D2F4F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834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UF-020/021/022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Chunk · BM25+Dense · Citation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743200"/>
            <a:ext cx="4114800" cy="804672"/>
          </a:xfrm>
          <a:prstGeom prst="rect">
            <a:avLst/>
          </a:prstGeom>
          <a:solidFill>
            <a:srgbClr val="0D2F4F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28346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Knowledge 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UF-010/011/012 · SQLite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26280" y="3547872"/>
            <a:ext cx="0" cy="164592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712464"/>
            <a:ext cx="2743200" cy="658368"/>
          </a:xfrm>
          <a:prstGeom prst="rect">
            <a:avLst/>
          </a:prstGeom>
          <a:solidFill>
            <a:srgbClr val="1A2F1A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4904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UF-040  RBAC/ABAC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3712464"/>
            <a:ext cx="2743200" cy="658368"/>
          </a:xfrm>
          <a:prstGeom prst="rect">
            <a:avLst/>
          </a:prstGeom>
          <a:solidFill>
            <a:srgbClr val="2F1A1A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374904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UF-041  Output Masking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3712464"/>
            <a:ext cx="2743200" cy="658368"/>
          </a:xfrm>
          <a:prstGeom prst="rect">
            <a:avLst/>
          </a:prstGeom>
          <a:solidFill>
            <a:srgbClr val="1A1A2F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374904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UF-050  Audit Logger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26280" y="4370832"/>
            <a:ext cx="0" cy="164592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535424"/>
            <a:ext cx="8595360" cy="438912"/>
          </a:xfrm>
          <a:prstGeom prst="rect">
            <a:avLst/>
          </a:prstGeom>
          <a:solidFill>
            <a:srgbClr val="1B2E4B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57200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Response Schema  {answer · citations · security_label · version · hash}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핵심 기능 — Knowledge &amp; RAG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78992"/>
            <a:ext cx="2651760" cy="4114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UF-010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125272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Schema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DDL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문서·장비·제약·감사 테이블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아이디엠포턴트 초기화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078992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78992"/>
            <a:ext cx="2651760" cy="4114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97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UF-011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46120" y="125272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 Metadata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581912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등록·검증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doc_id/rev/title/field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 감지 (E_CONFLICT)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1078992"/>
            <a:ext cx="26517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89320" y="1078992"/>
            <a:ext cx="2651760" cy="4114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0760" y="1097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UF-012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80760" y="1252728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1581912"/>
            <a:ext cx="2487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방산 용어 매핑 15+개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KF-21·AAM·AESA 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normalize_text() 지원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285292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127248"/>
            <a:ext cx="1371600" cy="3657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24612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246120"/>
            <a:ext cx="2011680" cy="3931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3264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UF-020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93192" y="34198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192" y="3712464"/>
            <a:ext cx="1874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Heading-Aware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512 토큰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토큰 오버랩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[PAGE N] 추적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331720" y="4096512"/>
            <a:ext cx="137160" cy="0"/>
          </a:xfrm>
          <a:prstGeom prst="line">
            <a:avLst/>
          </a:prstGeom>
          <a:noFill/>
          <a:ln w="19050">
            <a:solidFill>
              <a:srgbClr val="00A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68880" y="324612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468880" y="3246120"/>
            <a:ext cx="2011680" cy="3931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42032" y="3264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UF-021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542032" y="34198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Retriever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42032" y="3712464"/>
            <a:ext cx="1874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(어휘)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Dense Vector (의미)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코사인 유사도 융합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메타데이터 필터링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80560" y="4096512"/>
            <a:ext cx="137160" cy="0"/>
          </a:xfrm>
          <a:prstGeom prst="line">
            <a:avLst/>
          </a:prstGeom>
          <a:noFill/>
          <a:ln w="19050">
            <a:solidFill>
              <a:srgbClr val="00A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324612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17720" y="3246120"/>
            <a:ext cx="2011680" cy="3931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3264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UF-022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90872" y="34198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90872" y="3712464"/>
            <a:ext cx="1874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doc_id/rev/page 추출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스니펫 해시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300자 스니펫 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무결성 보장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29400" y="4096512"/>
            <a:ext cx="137160" cy="0"/>
          </a:xfrm>
          <a:prstGeom prst="line">
            <a:avLst/>
          </a:prstGeom>
          <a:noFill/>
          <a:ln w="19050">
            <a:solidFill>
              <a:srgbClr val="00A8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560" y="3246120"/>
            <a:ext cx="2011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66560" y="3246120"/>
            <a:ext cx="2011680" cy="3931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39712" y="3264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39712" y="34198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39712" y="3712464"/>
            <a:ext cx="1874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Qwen25Embedder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정규화 + mean-pool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 Fallback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스레드 안전 lazy load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핵심 기능 — Agent Layer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160520" cy="47548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070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UF-030  Rule-Based Classifier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388620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276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STRUCTURED_KB_QUERY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847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성능·제원 키워드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(최대속도, 무게, 제원…)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203704"/>
            <a:ext cx="388620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58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DOC_RAG_QUERY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24780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문서·절차·매뉴얼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(문서, 절차, 점검…)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3886200" cy="548640"/>
          </a:xfrm>
          <a:prstGeom prst="rect">
            <a:avLst/>
          </a:prstGeom>
          <a:solidFill>
            <a:srgbClr val="FEFCE8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8895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MIXED_QUERY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3108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유형 복합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465576"/>
            <a:ext cx="3886200" cy="548640"/>
          </a:xfrm>
          <a:prstGeom prst="rect">
            <a:avLst/>
          </a:prstGeom>
          <a:solidFill>
            <a:srgbClr val="FFF1F2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520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SECURITY_RESTRICTED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37398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기밀/주파수/암호화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(보안 차단 최우선)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096512"/>
            <a:ext cx="388620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1513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4370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매칭 없음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005840"/>
            <a:ext cx="4160520" cy="4754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06070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UF-031  Executor / ReAct Loop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00600" y="1572768"/>
            <a:ext cx="3886200" cy="548640"/>
          </a:xfrm>
          <a:prstGeom prst="rect">
            <a:avLst/>
          </a:prstGeom>
          <a:solidFill>
            <a:srgbClr val="F0F7FF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1572768"/>
            <a:ext cx="54864" cy="5486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6276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Observe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37760" y="1847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프롬프트 + 쿼리 + 툴 정의 수신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2203704"/>
            <a:ext cx="3886200" cy="548640"/>
          </a:xfrm>
          <a:prstGeom prst="rect">
            <a:avLst/>
          </a:prstGeom>
          <a:solidFill>
            <a:srgbClr val="F0F7FF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203704"/>
            <a:ext cx="54864" cy="5486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258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Think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37760" y="24780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LLM이 tool_calls 또는 텍스트 응답 생성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2834640"/>
            <a:ext cx="3886200" cy="548640"/>
          </a:xfrm>
          <a:prstGeom prst="rect">
            <a:avLst/>
          </a:prstGeom>
          <a:solidFill>
            <a:srgbClr val="F0F7FF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2834640"/>
            <a:ext cx="54864" cy="5486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28895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Act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937760" y="3108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툴 스키마 검증 → 보안 게이트 → 실행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0600" y="3465576"/>
            <a:ext cx="3886200" cy="548640"/>
          </a:xfrm>
          <a:prstGeom prst="rect">
            <a:avLst/>
          </a:prstGeom>
          <a:solidFill>
            <a:srgbClr val="F0F7FF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3465576"/>
            <a:ext cx="54864" cy="5486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35204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Result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37760" y="37398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결과를 'tool' 메시지로 LLM에 피드백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00600" y="4096512"/>
            <a:ext cx="3886200" cy="548640"/>
          </a:xfrm>
          <a:prstGeom prst="rect">
            <a:avLst/>
          </a:prstGeom>
          <a:solidFill>
            <a:srgbClr val="F0F7FF"/>
          </a:solidFill>
          <a:ln w="12700">
            <a:solidFill>
              <a:srgbClr val="D1DC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4096512"/>
            <a:ext cx="54864" cy="54864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41513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Loop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937760" y="4370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반환 또는 최대 10턴까지 반복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핵심 기능 — 보안 체계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등급 계층 (UF-040)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38404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(3)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892808"/>
            <a:ext cx="320040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3852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(2)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68296"/>
            <a:ext cx="256032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140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(1)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43784"/>
            <a:ext cx="1920240" cy="3840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895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(0)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3101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역할별 접근 필드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630168"/>
          <a:ext cx="3931920" cy="1243584"/>
        </p:xfrm>
        <a:graphic>
          <a:graphicData uri="http://schemas.openxmlformats.org/drawingml/2006/table">
            <a:tbl>
              <a:tblPr/>
              <a:tblGrid>
                <a:gridCol w="1920240"/>
                <a:gridCol w="2011680"/>
              </a:tblGrid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역할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접근 가능 분야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B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/ analyst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전체 분야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air_analyst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air, sensor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weapon_analyst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weapon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comm_analyst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comm, sensor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663440" y="100584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1005840"/>
            <a:ext cx="4160520" cy="47548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0600" y="106070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UF-041  출력 마스킹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800600" y="1600200"/>
            <a:ext cx="3886200" cy="804672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00600" y="1600200"/>
            <a:ext cx="54864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19472" y="1691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좌표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919472" y="1984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위도/경도 (DMS·십진법·한국식)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[REDACTED]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800600" y="2560320"/>
            <a:ext cx="3886200" cy="804672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800600" y="2560320"/>
            <a:ext cx="54864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19472" y="2651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주파수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919472" y="2944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GHz / MHz / kHz / THz 수치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[REDACTED]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800600" y="3520440"/>
            <a:ext cx="3886200" cy="804672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800600" y="3520440"/>
            <a:ext cx="54864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19472" y="36118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시스템 ID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919472" y="39044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XX-#### 패턴 (2-4대문자+숫자)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[REDACTED]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00600" y="3886200"/>
            <a:ext cx="3886200" cy="91440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92040" y="3931920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JWT 인증 (HS256) + 보안 게이트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모든 접근 감사 로그 기록 (UF-050)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사전 검색 필터링 + 사후 마스킹 이중 적용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처리 흐름 — KF-21 쿼리 예시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475488"/>
          </a:xfrm>
          <a:prstGeom prst="rect">
            <a:avLst/>
          </a:prstGeom>
          <a:solidFill>
            <a:srgbClr val="001F3D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사용자 (air_analyst · INTERNAL):  "KF-21의 최대 속도는?"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2651760" cy="1325880"/>
          </a:xfrm>
          <a:prstGeom prst="rect">
            <a:avLst/>
          </a:prstGeom>
          <a:solidFill>
            <a:srgbClr val="0D2F4F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664208"/>
            <a:ext cx="347472" cy="347472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6824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9768" y="20848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STRUCTURED_KB_QUERY 분류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'최대 속도' 키워드 매칭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54680" y="1572768"/>
            <a:ext cx="2651760" cy="1325880"/>
          </a:xfrm>
          <a:prstGeom prst="rect">
            <a:avLst/>
          </a:prstGeom>
          <a:solidFill>
            <a:srgbClr val="1A2A1A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1664208"/>
            <a:ext cx="347472" cy="347472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03320" y="16824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게이트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64408" y="20848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INTERNAL ≥ INTERNAL 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air_analyst → air field ✅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89320" y="1572768"/>
            <a:ext cx="2651760" cy="1325880"/>
          </a:xfrm>
          <a:prstGeom prst="rect">
            <a:avLst/>
          </a:prstGeom>
          <a:solidFill>
            <a:srgbClr val="0D2F4F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99048" y="1664208"/>
            <a:ext cx="347472" cy="347472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9048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16824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쿼리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99048" y="208483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테이블 조회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max_speed: 1190 km/h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054096"/>
            <a:ext cx="2651760" cy="1325880"/>
          </a:xfrm>
          <a:prstGeom prst="rect">
            <a:avLst/>
          </a:prstGeom>
          <a:solidFill>
            <a:srgbClr val="0D2F4F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" y="3145536"/>
            <a:ext cx="347472" cy="347472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3163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검색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29768" y="35661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BM25+Dense 하이브리드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관련 청크 반환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154680" y="3054096"/>
            <a:ext cx="2651760" cy="1325880"/>
          </a:xfrm>
          <a:prstGeom prst="rect">
            <a:avLst/>
          </a:prstGeom>
          <a:solidFill>
            <a:srgbClr val="2F1A00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64408" y="3145536"/>
            <a:ext cx="347472" cy="347472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4408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03320" y="3163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생성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264408" y="35661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doc_id·page·SHA-256 해시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스니펫 300자 캡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89320" y="3054096"/>
            <a:ext cx="2651760" cy="1325880"/>
          </a:xfrm>
          <a:prstGeom prst="rect">
            <a:avLst/>
          </a:prstGeom>
          <a:solidFill>
            <a:srgbClr val="1A1A2F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99048" y="3145536"/>
            <a:ext cx="347472" cy="347472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99048" y="3145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37960" y="3163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 로그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099048" y="35661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SQLite 기록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request_id·user_id·hash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1B2E4B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645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응답:  "KF-21의 최대 속도는 1190 km/h입니다."  + Citations [{doc_id, page, hash}]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테스트 &amp; 평가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5270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테스트 케이스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통과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24128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51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≥70%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5270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커버리지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68880" y="17830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1024128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051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≥80%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17720" y="15270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보안·감사 커버리지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17720" y="17830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목표치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024128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0515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766560" y="15270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시나리오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66560" y="17830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IF-001~005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194560"/>
            <a:ext cx="4160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194560"/>
            <a:ext cx="4160520" cy="4114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23113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단위 테스트 (Unit Tests)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2679192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config: 로드, 검증, 환경변수 오버라이드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knowledge: DB 스키마, 문서 등록, 용어집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rag: 청킹, BM25/Dense 인덱스, 인용 생성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agent: 쿼리 분류, 툴 스키마 검증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security: RBAC 접근 제어, 출력 마스킹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audit: 로그 쓰기, 조회, 검증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serving: MockLLM 동작, 툴 호출 시퀀스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194560"/>
            <a:ext cx="4160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194560"/>
            <a:ext cx="416052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23113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테스트 (Integration Tests)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00600" y="2679192"/>
            <a:ext cx="685800" cy="31089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70662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IF-001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7840" y="27157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업로드 → 색인 → 쿼리 → 인용 응답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099816"/>
            <a:ext cx="685800" cy="31089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12724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IF-002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77840" y="313639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구조화 DB 쿼리 → 제약 적용 → 인용 응답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520440"/>
            <a:ext cx="685800" cy="31089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54787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IF-003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77840" y="355701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없는 접근 → 차단 결과 확인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941064"/>
            <a:ext cx="685800" cy="31089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96849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IF-004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77840" y="39776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로그 생성 및 검증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4361688"/>
            <a:ext cx="685800" cy="31089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43891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IF-005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77840" y="439826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툴 스키마 위반 → 안전 실패 처리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사용 방법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160520" cy="41148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4241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설치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99616"/>
            <a:ext cx="3886200" cy="804672"/>
          </a:xfrm>
          <a:prstGeom prst="rect">
            <a:avLst/>
          </a:prstGeom>
          <a:solidFill>
            <a:srgbClr val="1E2A3A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3619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-e ".[dev]"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60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4160520" cy="4114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4241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테스트 실행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00600" y="1499616"/>
            <a:ext cx="3886200" cy="804672"/>
          </a:xfrm>
          <a:prstGeom prst="rect">
            <a:avLst/>
          </a:prstGeom>
          <a:solidFill>
            <a:srgbClr val="1E2A3A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536192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-q          # 208 tests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--cov=src/defense_llm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--cov-report=term-missing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542032"/>
            <a:ext cx="8503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42032"/>
            <a:ext cx="8503920" cy="4114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786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에이전트 실행 코드 예시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1783080"/>
          </a:xfrm>
          <a:prstGeom prst="rect">
            <a:avLst/>
          </a:prstGeom>
          <a:solidFill>
            <a:srgbClr val="1A2032"/>
          </a:solidFill>
          <a:ln w="12700">
            <a:solidFill>
              <a:srgbClr val="3344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072384"/>
            <a:ext cx="8001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defense_llm.agent.executor import Executor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defense_llm.serving.qwen_adapter import Qwen25Adapter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defense_llm.rag.indexer import DocumentIndex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 = Executor(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llm_adapter=Qwen25Adapter(model_id='Qwen/Qwen2.5-7B-Instruct'),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index=DocumentIndex(),  db_path='kb.db',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agent_mode=True, max_agent_turns=10,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 = ex.execute([], {'role': 'analyst', 'clearance': 'INTERNAL'}, query='KF-21 분석')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확장 경로 — 1.5B → 7B+ 업그레이드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241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교체 시 변경 사항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63624"/>
            <a:ext cx="438912" cy="438912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63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51790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settings.py 업데이트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model_name = 'Qwen/Qwen2.5-7B-Instruct'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49424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368296"/>
            <a:ext cx="438912" cy="438912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68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32257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어댑터로 교체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VLLMAdapter(base_url='http://localhost:8000/v1')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54096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72968"/>
            <a:ext cx="438912" cy="438912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1729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1272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재색인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고품질 임베더로 재색인 수행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858768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977640"/>
            <a:ext cx="438912" cy="438912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977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931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파라미터 조정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tensor_parallel_size, gpu_memory_utilization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05840"/>
            <a:ext cx="416052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06070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변경 불필요 모듈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1554480"/>
            <a:ext cx="3840480" cy="5212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160020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RAG Layer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182880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청킹·검색·인용 변경 없음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2176272"/>
            <a:ext cx="3840480" cy="5212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22199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Agent Layer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9472" y="245059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Executor·툴 스키마 변경 없음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798064"/>
            <a:ext cx="3840480" cy="5212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28437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Layer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9472" y="30723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RBAC/ABAC·마스킹 변경 없음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419856"/>
            <a:ext cx="3840480" cy="5212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46557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Layer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19472" y="369417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로그 변경 없음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4041648"/>
            <a:ext cx="3840480" cy="5212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40873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Knowledge Layer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19472" y="431596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 변경 없음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5902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P1 예정: FAISS/hnswlib ANN 색인 · PDF/DOCX 파서 · Knowledge Graph · ROUGE-L·BERTScore 평가 지표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DefenseLLM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방산 도메인 특화 sLLM 에이전트 아키텍처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371600" y="2487168"/>
            <a:ext cx="6400800" cy="438912"/>
          </a:xfrm>
          <a:prstGeom prst="rect">
            <a:avLst/>
          </a:prstGeom>
          <a:solidFill>
            <a:srgbClr val="1B2E4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08760" y="251460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8개 모듈 · 17개 Unit Function · 5개 통합 시나리오 · 208개 테스트 케이스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3035808"/>
            <a:ext cx="6400800" cy="438912"/>
          </a:xfrm>
          <a:prstGeom prst="rect">
            <a:avLst/>
          </a:prstGeom>
          <a:solidFill>
            <a:srgbClr val="1B2E4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306324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BM25 + Dense Vector 하이브리드 RAG · SHA-256 인용 무결성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3584448"/>
            <a:ext cx="6400800" cy="438912"/>
          </a:xfrm>
          <a:prstGeom prst="rect">
            <a:avLst/>
          </a:prstGeom>
          <a:solidFill>
            <a:srgbClr val="1B2E4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361188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RBAC/ABAC 이중 보안 + 좌표·주파수·시스템ID 자동 마스킹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4133088"/>
            <a:ext cx="6400800" cy="438912"/>
          </a:xfrm>
          <a:prstGeom prst="rect">
            <a:avLst/>
          </a:prstGeom>
          <a:solidFill>
            <a:srgbClr val="1B2E4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416052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완전 오프라인 · 어댑터 패턴으로 1.5B → 7B+ 무중단 교체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DefenseLLM - 방산 특화 sLLM 에이전트 시스템</dc:title>
  <dc:subject>PptxGenJS Presentation</dc:subject>
  <dc:creator>PptxGenJS</dc:creator>
  <cp:lastModifiedBy>PptxGenJS</cp:lastModifiedBy>
  <cp:revision>1</cp:revision>
  <dcterms:created xsi:type="dcterms:W3CDTF">2026-03-20T06:02:29Z</dcterms:created>
  <dcterms:modified xsi:type="dcterms:W3CDTF">2026-03-20T06:02:29Z</dcterms:modified>
</cp:coreProperties>
</file>